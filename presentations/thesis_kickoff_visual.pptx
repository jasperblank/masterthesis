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50" b="1" i="0">
                <a:solidFill>
                  <a:srgbClr val="1F3A68"/>
                </a:solidFill>
                <a:latin typeface="Calibri"/>
              </a:rPr>
              <a:t>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617720" y="1005840"/>
            <a:ext cx="7040880" cy="51206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17720" y="1005840"/>
            <a:ext cx="7040880" cy="5120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 i="1">
                <a:solidFill>
                  <a:srgbClr val="666E78"/>
                </a:solidFill>
                <a:latin typeface="Calibri"/>
              </a:rPr>
              <a:t>[ reprojection_mosaic.png placeholder ]
Drop the real PNG into outputs\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931920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222222"/>
                </a:solidFill>
                <a:latin typeface="Calibri"/>
              </a:rPr>
              <a:t>Controlling micro-agents</a:t>
            </a:r>
          </a:p>
          <a:p>
            <a:pPr>
              <a:lnSpc>
                <a:spcPct val="105000"/>
              </a:lnSpc>
            </a:pPr>
            <a:r>
              <a:rPr sz="3000" b="1" i="0">
                <a:solidFill>
                  <a:srgbClr val="222222"/>
                </a:solidFill>
                <a:latin typeface="Calibri"/>
              </a:rPr>
              <a:t>in vasculature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11880"/>
            <a:ext cx="548640" cy="36576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931920" cy="1828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4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Two-photon microscopy + an external magnetic field, guiding therapeutic agents to specific vessels.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393192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 b="1" i="0">
                <a:solidFill>
                  <a:srgbClr val="1F3A68"/>
                </a:solidFill>
                <a:latin typeface="Calibri"/>
              </a:rPr>
              <a:t>This thesis: the external delivery + visual-servoing apparatus.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E78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50" b="1" i="0">
                <a:solidFill>
                  <a:srgbClr val="1F3A68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Calibri"/>
              </a:rPr>
              <a:t>What this thesis sets out to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280160" cy="0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280160" y="2075688"/>
            <a:ext cx="146304" cy="146304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64208" y="1874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222222"/>
                </a:solidFill>
                <a:latin typeface="Calibri"/>
              </a:rPr>
              <a:t>Custom 8 mm endoscopic probe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734056"/>
            <a:ext cx="146304" cy="146304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253288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222222"/>
                </a:solidFill>
                <a:latin typeface="Calibri"/>
              </a:rPr>
              <a:t>Dual-view imaging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392424"/>
            <a:ext cx="146304" cy="146304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319125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222222"/>
                </a:solidFill>
                <a:latin typeface="Calibri"/>
              </a:rPr>
              <a:t>Visual-servoing 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050792"/>
            <a:ext cx="146304" cy="146304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384962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222222"/>
                </a:solidFill>
                <a:latin typeface="Calibri"/>
              </a:rPr>
              <a:t>In vitro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709160"/>
            <a:ext cx="146304" cy="146304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45079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222222"/>
                </a:solidFill>
                <a:latin typeface="Calibri"/>
              </a:rPr>
              <a:t>In vivo validation on the CAM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5367528"/>
            <a:ext cx="146304" cy="146304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64208" y="51663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222222"/>
                </a:solidFill>
                <a:latin typeface="Calibri"/>
              </a:rPr>
              <a:t>Quantitative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E78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50" b="1" i="0">
                <a:solidFill>
                  <a:srgbClr val="1F3A68"/>
                </a:solidFill>
                <a:latin typeface="Calibri"/>
              </a:rPr>
              <a:t>EXPLORATORY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Calibri"/>
              </a:rPr>
              <a:t>Where we are so far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280160" cy="0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91640"/>
            <a:ext cx="3515258" cy="42062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515258" cy="4206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 i="1">
                <a:solidFill>
                  <a:srgbClr val="666E78"/>
                </a:solidFill>
                <a:latin typeface="Calibri"/>
              </a:rPr>
              <a:t>[ pipeline_overview.png placeholder ]
Drop the real PNG into outputs\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52744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666E78"/>
                </a:solidFill>
                <a:latin typeface="Calibri"/>
              </a:rPr>
              <a:t>Vasculature reconstruction (XY · XZ · YZ projections).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691640"/>
            <a:ext cx="3515258" cy="42062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1691640"/>
            <a:ext cx="3515258" cy="4206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 i="1">
                <a:solidFill>
                  <a:srgbClr val="666E78"/>
                </a:solidFill>
                <a:latin typeface="Calibri"/>
              </a:rPr>
              <a:t>[ reprojection_mosaic.png placeholder ]
Drop the real PNG into outputs\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8218" y="5952744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666E78"/>
                </a:solidFill>
                <a:latin typeface="Calibri"/>
              </a:rPr>
              <a:t>Reconstruction reprojected onto the original camera views.</a:t>
            </a:r>
          </a:p>
        </p:txBody>
      </p:sp>
      <p:pic>
        <p:nvPicPr>
          <p:cNvPr id="12" name="Picture 11" descr="prob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2037131"/>
            <a:ext cx="3515258" cy="35152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27796" y="5952744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666E78"/>
                </a:solidFill>
                <a:latin typeface="Calibri"/>
              </a:rPr>
              <a:t>End-effector motion of the probe over the egg.</a:t>
            </a:r>
          </a:p>
        </p:txBody>
      </p:sp>
      <p:pic>
        <p:nvPicPr>
          <p:cNvPr id="14" name="probe_motion_slow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127796" y="1691640"/>
            <a:ext cx="3515258" cy="4206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32720" y="64465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E78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50" b="1" i="0">
                <a:solidFill>
                  <a:srgbClr val="1F3A68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Calibri"/>
              </a:rPr>
              <a:t>Six-month plan · May–October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280160" cy="0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874519"/>
            <a:ext cx="11064240" cy="0"/>
          </a:xfrm>
          <a:prstGeom prst="line">
            <a:avLst/>
          </a:prstGeom>
          <a:ln w="9525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54680" y="1874519"/>
            <a:ext cx="0" cy="3566161"/>
          </a:xfrm>
          <a:prstGeom prst="line">
            <a:avLst/>
          </a:prstGeom>
          <a:ln w="9525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5440680"/>
            <a:ext cx="11064240" cy="0"/>
          </a:xfrm>
          <a:prstGeom prst="line">
            <a:avLst/>
          </a:prstGeom>
          <a:ln w="9525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80" y="1911095"/>
            <a:ext cx="14097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Calibri"/>
              </a:rPr>
              <a:t>May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64380.0" y="1874519"/>
            <a:ext cx="0.0" cy="3566161"/>
          </a:xfrm>
          <a:prstGeom prst="line">
            <a:avLst/>
          </a:prstGeom>
          <a:ln w="6350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64380" y="1911095"/>
            <a:ext cx="14097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Calibri"/>
              </a:rPr>
              <a:t>Jun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74080.0" y="1874519"/>
            <a:ext cx="0.0" cy="3566161"/>
          </a:xfrm>
          <a:prstGeom prst="line">
            <a:avLst/>
          </a:prstGeom>
          <a:ln w="6350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74080" y="1911095"/>
            <a:ext cx="14097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Calibri"/>
              </a:rPr>
              <a:t>Jul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83780.0" y="1874519"/>
            <a:ext cx="0.0" cy="3566161"/>
          </a:xfrm>
          <a:prstGeom prst="line">
            <a:avLst/>
          </a:prstGeom>
          <a:ln w="6350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83780" y="1911095"/>
            <a:ext cx="14097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Calibri"/>
              </a:rPr>
              <a:t>Aug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93480.0" y="1874519"/>
            <a:ext cx="0.0" cy="3566161"/>
          </a:xfrm>
          <a:prstGeom prst="line">
            <a:avLst/>
          </a:prstGeom>
          <a:ln w="6350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93480" y="1911095"/>
            <a:ext cx="14097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Calibri"/>
              </a:rPr>
              <a:t>Sep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03180.0" y="1874519"/>
            <a:ext cx="0.0" cy="3566161"/>
          </a:xfrm>
          <a:prstGeom prst="line">
            <a:avLst/>
          </a:prstGeom>
          <a:ln w="6350">
            <a:solidFill>
              <a:srgbClr val="D0D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03180" y="1911095"/>
            <a:ext cx="14097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Calibri"/>
              </a:rPr>
              <a:t>Oct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285999"/>
            <a:ext cx="8458200" cy="525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285999"/>
            <a:ext cx="2468880" cy="5257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Calibri"/>
              </a:rPr>
              <a:t>1. Foundations &amp; specification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420873"/>
            <a:ext cx="975946" cy="256032"/>
          </a:xfrm>
          <a:prstGeom prst="rect">
            <a:avLst/>
          </a:prstGeom>
          <a:solidFill>
            <a:srgbClr val="3C6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2811779"/>
            <a:ext cx="2468880" cy="5257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Calibri"/>
              </a:rPr>
              <a:t>2. Probe design &amp; prototyping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5310" y="2946653"/>
            <a:ext cx="1951892" cy="256032"/>
          </a:xfrm>
          <a:prstGeom prst="rect">
            <a:avLst/>
          </a:prstGeom>
          <a:solidFill>
            <a:srgbClr val="3C6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4680" y="3337559"/>
            <a:ext cx="8458200" cy="525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337559"/>
            <a:ext cx="2468880" cy="5257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Calibri"/>
              </a:rPr>
              <a:t>3. Imaging pipeline &amp; calibration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31887" y="3472433"/>
            <a:ext cx="1951892" cy="256032"/>
          </a:xfrm>
          <a:prstGeom prst="rect">
            <a:avLst/>
          </a:prstGeom>
          <a:solidFill>
            <a:srgbClr val="3C6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863339"/>
            <a:ext cx="2468880" cy="5257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Calibri"/>
              </a:rPr>
              <a:t>4. Visual-servoing controller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8464" y="3998213"/>
            <a:ext cx="1951892" cy="256032"/>
          </a:xfrm>
          <a:prstGeom prst="rect">
            <a:avLst/>
          </a:prstGeom>
          <a:solidFill>
            <a:srgbClr val="3C6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54680" y="4389119"/>
            <a:ext cx="8458200" cy="525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389119"/>
            <a:ext cx="2468880" cy="5257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Calibri"/>
              </a:rPr>
              <a:t>5. In vivo CAM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5041" y="4523993"/>
            <a:ext cx="1626576" cy="256032"/>
          </a:xfrm>
          <a:prstGeom prst="rect">
            <a:avLst/>
          </a:prstGeom>
          <a:solidFill>
            <a:srgbClr val="3C6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914899"/>
            <a:ext cx="2468880" cy="5257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Calibri"/>
              </a:rPr>
              <a:t>6. Analysis &amp; thesis writing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60987" y="5049773"/>
            <a:ext cx="1951892" cy="256032"/>
          </a:xfrm>
          <a:prstGeom prst="rect">
            <a:avLst/>
          </a:prstGeom>
          <a:solidFill>
            <a:srgbClr val="3C6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90181" y="54955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M1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1443" y="54955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M2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8020" y="54955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M3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9281" y="54955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M4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5858" y="54955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M5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54955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E78"/>
                </a:solidFill>
                <a:latin typeface="Calibri"/>
              </a:rPr>
              <a:t>M1 Requirements &amp; lit-review draft  ·  M2 Probe prototype  ·  M3 Imaging pipeline  ·  M4 In vitro validation  ·  M5 In vivo CAM dataset  ·  M6 Manuscript &amp; defense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4465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E78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